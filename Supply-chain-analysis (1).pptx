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ira Sans Condensed"/>
      <p:regular r:id="rId201314"/>
    </p:embeddedFont>
    <p:embeddedFont>
      <p:font typeface="Fira Sans Condensed SemiBold"/>
      <p:regular r:id="rId201315"/>
    </p:embeddedFont>
    <p:embeddedFont>
      <p:font typeface="Fira Sans Condensed Bold"/>
      <p:regular r:id="rId201316"/>
    </p:embeddedFont>
    <p:embeddedFont>
      <p:font typeface="JetBrains Mon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study follows the path from a compact dataset to operational recommendations across demand, inventory, suppliers, transportation, and inspection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 as a translation exercise. The dataset was small, but the analysis made it useful for operational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five lenses used throughout the analysis. The important move is connecting them rather than treating each metric as a separate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Skincare leads both revenue and unit volume. That makes it the clearest anchor for assortment, replenishment, and promotional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inventory can hide the products that matter most. Replenishment should combine demand and remaining stock at the product and SKU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 is the outlier in the logistics view. The recommendation is targeted: audit road providers, then move viable high-volume shipments toward sea or 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A gives the quality conversation a concrete starting point. The next step is to connect its inspection failures to handling, carriers, and transport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signals are actionable without a new analytical model. Improve demographic capture, and use Mumbai and Kolkata as the strongest geographic cues for allocation and promotion.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workflow simple in the story: Python prepares, SQL answers, and Power BI communicates. That separation makes the analysis repeatable and explainable.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showing that the recommendations are operational, specific, and traceable to the analysis: logistics, quality, customer data, and market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58775"/>
            <a:ext cx="734041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ANALYTICS CASE STUDY · OPERATIONS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4968577"/>
            <a:ext cx="6959426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spc="-48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Supply chain</a:t>
            </a:r>
            <a:endParaRPr lang="en-US" sz="48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800" spc="-48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analysis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80990" y="6338590"/>
            <a:ext cx="734041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From a 100-row dataset to decisions on demand, inventory, quality, and logistics.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1F6B50"/>
          </a:solidFill>
          <a:ln/>
        </p:spPr>
      </p:sp>
      <p:sp>
        <p:nvSpPr>
          <p:cNvPr id="6" name="Shape 4"/>
          <p:cNvSpPr/>
          <p:nvPr/>
        </p:nvSpPr>
        <p:spPr>
          <a:xfrm>
            <a:off x="7721407" y="5798939"/>
            <a:ext cx="2158946" cy="1059061"/>
          </a:xfrm>
          <a:prstGeom prst="roundRect">
            <a:avLst>
              <a:gd name="adj" fmla="val 5756"/>
            </a:avLst>
          </a:prstGeom>
          <a:solidFill>
            <a:srgbClr val="F4F3EC"/>
          </a:solidFill>
          <a:ln/>
        </p:spPr>
      </p:sp>
      <p:sp>
        <p:nvSpPr>
          <p:cNvPr id="7" name="Text 5"/>
          <p:cNvSpPr/>
          <p:nvPr/>
        </p:nvSpPr>
        <p:spPr>
          <a:xfrm>
            <a:off x="7924602" y="5979914"/>
            <a:ext cx="195575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THE READ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24602" y="6250980"/>
            <a:ext cx="17525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Sales signals meet operational action.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32749" y="5798939"/>
            <a:ext cx="2158946" cy="1059061"/>
          </a:xfrm>
          <a:prstGeom prst="roundRect">
            <a:avLst>
              <a:gd name="adj" fmla="val 5756"/>
            </a:avLst>
          </a:prstGeom>
          <a:solidFill>
            <a:srgbClr val="F2D13A"/>
          </a:solidFill>
          <a:ln/>
        </p:spPr>
      </p:sp>
      <p:sp>
        <p:nvSpPr>
          <p:cNvPr id="10" name="Text 8"/>
          <p:cNvSpPr/>
          <p:nvPr/>
        </p:nvSpPr>
        <p:spPr>
          <a:xfrm>
            <a:off x="10235944" y="5979914"/>
            <a:ext cx="195575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THE STARTING POINT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235944" y="6250980"/>
            <a:ext cx="17525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100 rows · 24 columns · no missing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72693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01 / THE QUESTION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6913786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A 100-row dataset became an operational decision tool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410494"/>
            <a:ext cx="691378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work started with one question: where are sales, inventory, supplier quality, and logistics performance creating avoidable risk?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954014"/>
            <a:ext cx="3380695" cy="1314351"/>
          </a:xfrm>
          <a:prstGeom prst="roundRect">
            <a:avLst>
              <a:gd name="adj" fmla="val 4638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2109589"/>
            <a:ext cx="320290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APPROACH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87" y="2339380"/>
            <a:ext cx="302510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Clean and explore the data, answer business questions in SQL, then bring the story to life in Power BI.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88682" y="1954014"/>
            <a:ext cx="3380695" cy="1314351"/>
          </a:xfrm>
          <a:prstGeom prst="roundRect">
            <a:avLst>
              <a:gd name="adj" fmla="val 4638"/>
            </a:avLst>
          </a:prstGeom>
          <a:solidFill>
            <a:srgbClr val="F2D13A"/>
          </a:solidFill>
          <a:ln/>
        </p:spPr>
      </p:sp>
      <p:sp>
        <p:nvSpPr>
          <p:cNvPr id="9" name="Text 7"/>
          <p:cNvSpPr/>
          <p:nvPr/>
        </p:nvSpPr>
        <p:spPr>
          <a:xfrm>
            <a:off x="4066478" y="2109589"/>
            <a:ext cx="320290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66478" y="2355255"/>
            <a:ext cx="302510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100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066478" y="2901355"/>
            <a:ext cx="320290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rows · 24 columns · no missing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7266" y="0"/>
            <a:ext cx="4414429" cy="6858000"/>
          </a:xfrm>
          <a:prstGeom prst="roundRect">
            <a:avLst>
              <a:gd name="adj" fmla="val 1381"/>
            </a:avLst>
          </a:prstGeom>
          <a:solidFill>
            <a:srgbClr val="F4F3E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860" y="2240756"/>
            <a:ext cx="2158946" cy="2159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05860" y="4456509"/>
            <a:ext cx="418583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RAW DATA → DECISION VIEW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02 / THE OPERATING PICTURE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The analysis connects five operational levers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1027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Each lever answers a different operating question, then the five views combine into one decision picture.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2633663"/>
            <a:ext cx="3725174" cy="1301651"/>
          </a:xfrm>
          <a:prstGeom prst="roundRect">
            <a:avLst>
              <a:gd name="adj" fmla="val 4683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37" y="3043238"/>
            <a:ext cx="356642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01 / SALES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4337" y="3255566"/>
            <a:ext cx="34076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Sales 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4337" y="3561953"/>
            <a:ext cx="356642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Revenue by product category.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33161" y="2633663"/>
            <a:ext cx="3725273" cy="1301651"/>
          </a:xfrm>
          <a:prstGeom prst="roundRect">
            <a:avLst>
              <a:gd name="adj" fmla="val 4683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1907" y="3043238"/>
            <a:ext cx="356652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02 / INVENTORY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91907" y="3255566"/>
            <a:ext cx="340778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Stock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91907" y="3561953"/>
            <a:ext cx="356652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Inventory levels and products at risk of stockout.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0831" y="2633663"/>
            <a:ext cx="3725273" cy="1301651"/>
          </a:xfrm>
          <a:prstGeom prst="roundRect">
            <a:avLst>
              <a:gd name="adj" fmla="val 4683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9577" y="3043238"/>
            <a:ext cx="356652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03 / SUPPLIERS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69577" y="3255566"/>
            <a:ext cx="340778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Supplier performance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69577" y="3561953"/>
            <a:ext cx="356652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Manufacturing cost and defect rate.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5591" y="4335363"/>
            <a:ext cx="5664058" cy="1301651"/>
          </a:xfrm>
          <a:prstGeom prst="roundRect">
            <a:avLst>
              <a:gd name="adj" fmla="val 4683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337" y="4744938"/>
            <a:ext cx="550531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04 / TRANSPORT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37" y="4957266"/>
            <a:ext cx="53465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Transportation efficiency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37" y="5263654"/>
            <a:ext cx="550531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Modes, routes, cost, and delivery signals.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046" y="4335363"/>
            <a:ext cx="5664058" cy="1301651"/>
          </a:xfrm>
          <a:prstGeom prst="roundRect">
            <a:avLst>
              <a:gd name="adj" fmla="val 4683"/>
            </a:avLst>
          </a:prstGeom>
          <a:solidFill>
            <a:srgbClr val="F2D13A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0792" y="4744938"/>
            <a:ext cx="550531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05 / QUALITY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30792" y="4957266"/>
            <a:ext cx="53465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Inspection outcomes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30792" y="5263654"/>
            <a:ext cx="550531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Inspection results and customer / market patterns.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70534" y="2392363"/>
            <a:ext cx="495288" cy="495300"/>
          </a:xfrm>
          <a:prstGeom prst="ellipse">
            <a:avLst/>
          </a:prstGeom>
          <a:solidFill>
            <a:srgbClr val="9FE3C4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356" y="2516188"/>
            <a:ext cx="247644" cy="24765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848104" y="2392363"/>
            <a:ext cx="495288" cy="495300"/>
          </a:xfrm>
          <a:prstGeom prst="ellipse">
            <a:avLst/>
          </a:prstGeom>
          <a:solidFill>
            <a:srgbClr val="9FE3C4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926" y="2516188"/>
            <a:ext cx="247644" cy="24765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9725774" y="2392363"/>
            <a:ext cx="495288" cy="495300"/>
          </a:xfrm>
          <a:prstGeom prst="ellipse">
            <a:avLst/>
          </a:prstGeom>
          <a:solidFill>
            <a:srgbClr val="9FE3C4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596" y="2516188"/>
            <a:ext cx="247644" cy="24765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2939976" y="4094063"/>
            <a:ext cx="495288" cy="495300"/>
          </a:xfrm>
          <a:prstGeom prst="ellipse">
            <a:avLst/>
          </a:prstGeom>
          <a:solidFill>
            <a:srgbClr val="9FE3C4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798" y="4217888"/>
            <a:ext cx="247644" cy="24765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8756431" y="4094063"/>
            <a:ext cx="495288" cy="495300"/>
          </a:xfrm>
          <a:prstGeom prst="ellipse">
            <a:avLst/>
          </a:prstGeom>
          <a:solidFill>
            <a:srgbClr val="9FE3C4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253" y="4217888"/>
            <a:ext cx="247644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566405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03 / DEMAND SIGNAL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5308467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Skincare is the growth anchor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72046" y="0"/>
            <a:ext cx="3618120" cy="6858000"/>
          </a:xfrm>
          <a:prstGeom prst="roundRect">
            <a:avLst>
              <a:gd name="adj" fmla="val 1685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56191" y="161925"/>
            <a:ext cx="3249829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REVENUE AND UNITS SOLD BY PRODUCT TYPE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191" y="592931"/>
            <a:ext cx="3249829" cy="18054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942462" y="0"/>
            <a:ext cx="2249233" cy="6858000"/>
          </a:xfrm>
          <a:prstGeom prst="roundRect">
            <a:avLst>
              <a:gd name="adj" fmla="val 2710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406" y="1357114"/>
            <a:ext cx="1587460" cy="158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77406" y="3198614"/>
            <a:ext cx="17793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41.5%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10177406" y="3745706"/>
            <a:ext cx="201428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of total revenue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177406" y="4115891"/>
            <a:ext cx="587063" cy="19050"/>
          </a:xfrm>
          <a:prstGeom prst="roundRect">
            <a:avLst>
              <a:gd name="adj" fmla="val 49999"/>
            </a:avLst>
          </a:prstGeom>
          <a:solidFill>
            <a:srgbClr val="13201B"/>
          </a:solidFill>
          <a:ln/>
        </p:spPr>
      </p:sp>
      <p:sp>
        <p:nvSpPr>
          <p:cNvPr id="12" name="Text 8"/>
          <p:cNvSpPr/>
          <p:nvPr/>
        </p:nvSpPr>
        <p:spPr>
          <a:xfrm>
            <a:off x="10177406" y="4290516"/>
            <a:ext cx="177934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0"/>
              </a:rPr>
              <a:t>21K units sold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, or 45% of total units.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177406" y="4839990"/>
            <a:ext cx="177934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USE THE CATEGORY MIX TO GUIDE ASSORTMENT, REPLENISHMENT, AND PROMOTIONAL FOCUS.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566405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04 / INVENTORY DECISIONS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5308467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Inventory decisions should follow demand, not averages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410494"/>
            <a:ext cx="530846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useful question is not whether inventory looks normal. It is which products are selling while stock is 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72046" y="0"/>
            <a:ext cx="6019649" cy="6858000"/>
          </a:xfrm>
          <a:prstGeom prst="rect">
            <a:avLst/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6990" y="2742009"/>
            <a:ext cx="174829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CHECK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6990" y="2954338"/>
            <a:ext cx="174829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Find exposure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6990" y="3260725"/>
            <a:ext cx="1748290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Identify products with low or zero stock levels before they become missed-sales events.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07676" y="2849265"/>
            <a:ext cx="174829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PRIORITIZE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07676" y="3061593"/>
            <a:ext cx="174829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Follow demand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07676" y="3367980"/>
            <a:ext cx="1748290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Prioritize products that sell well while carrying low inventory.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08362" y="2742009"/>
            <a:ext cx="174838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REPLENISH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208362" y="2954338"/>
            <a:ext cx="174838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Combine signals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08362" y="3260725"/>
            <a:ext cx="1748389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Use product type, SKU sales, and remaining stock together to guide replenishment.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566405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05 / LOGISTICS SIGNAL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5308467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Road transit is the logistics bottleneck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72046" y="0"/>
            <a:ext cx="2444689" cy="6858000"/>
          </a:xfrm>
          <a:prstGeom prst="roundRect">
            <a:avLst>
              <a:gd name="adj" fmla="val 2494"/>
            </a:avLst>
          </a:prstGeom>
          <a:solidFill>
            <a:srgbClr val="F4F3E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5241" y="1894979"/>
            <a:ext cx="1841454" cy="184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5241" y="3955554"/>
            <a:ext cx="224149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ROAD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75241" y="4201220"/>
            <a:ext cx="203829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≈78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375241" y="4748312"/>
            <a:ext cx="224149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highest defect rate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69131" y="0"/>
            <a:ext cx="3422564" cy="6858000"/>
          </a:xfrm>
          <a:prstGeom prst="roundRect">
            <a:avLst>
              <a:gd name="adj" fmla="val 1781"/>
            </a:avLst>
          </a:prstGeom>
          <a:solidFill>
            <a:srgbClr val="F4F3EC"/>
          </a:solidFill>
          <a:ln/>
        </p:spPr>
      </p:sp>
      <p:sp>
        <p:nvSpPr>
          <p:cNvPr id="10" name="Text 7"/>
          <p:cNvSpPr/>
          <p:nvPr/>
        </p:nvSpPr>
        <p:spPr>
          <a:xfrm>
            <a:off x="8972326" y="206375"/>
            <a:ext cx="321936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MODE READOUT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972326" y="477441"/>
            <a:ext cx="3016175" cy="1045170"/>
          </a:xfrm>
          <a:prstGeom prst="roundRect">
            <a:avLst>
              <a:gd name="adj" fmla="val 5832"/>
            </a:avLst>
          </a:prstGeom>
          <a:solidFill>
            <a:srgbClr val="F2D13A"/>
          </a:solidFill>
          <a:ln/>
        </p:spPr>
      </p:sp>
      <p:sp>
        <p:nvSpPr>
          <p:cNvPr id="12" name="Text 9"/>
          <p:cNvSpPr/>
          <p:nvPr/>
        </p:nvSpPr>
        <p:spPr>
          <a:xfrm>
            <a:off x="9150121" y="634603"/>
            <a:ext cx="266058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Road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50121" y="940991"/>
            <a:ext cx="266058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Highest defect rate at approximately 78.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72326" y="1675011"/>
            <a:ext cx="3016175" cy="1045170"/>
          </a:xfrm>
          <a:prstGeom prst="roundRect">
            <a:avLst>
              <a:gd name="adj" fmla="val 5832"/>
            </a:avLst>
          </a:prstGeom>
          <a:solidFill>
            <a:srgbClr val="DDF2E8"/>
          </a:solidFill>
          <a:ln/>
        </p:spPr>
      </p:sp>
      <p:sp>
        <p:nvSpPr>
          <p:cNvPr id="15" name="Text 12"/>
          <p:cNvSpPr/>
          <p:nvPr/>
        </p:nvSpPr>
        <p:spPr>
          <a:xfrm>
            <a:off x="9150121" y="1832173"/>
            <a:ext cx="266058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Sea freight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50121" y="2138561"/>
            <a:ext cx="266058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Identified as the most cost-effective and reliable mode.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972326" y="2872581"/>
            <a:ext cx="3016175" cy="1259780"/>
          </a:xfrm>
          <a:prstGeom prst="roundRect">
            <a:avLst>
              <a:gd name="adj" fmla="val 4839"/>
            </a:avLst>
          </a:prstGeom>
          <a:solidFill>
            <a:srgbClr val="F4F3EC"/>
          </a:solidFill>
          <a:ln/>
        </p:spPr>
      </p:sp>
      <p:sp>
        <p:nvSpPr>
          <p:cNvPr id="18" name="Text 15"/>
          <p:cNvSpPr/>
          <p:nvPr/>
        </p:nvSpPr>
        <p:spPr>
          <a:xfrm>
            <a:off x="9150121" y="3029744"/>
            <a:ext cx="266058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Action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50121" y="3336131"/>
            <a:ext cx="2660583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Audit road providers and shift viable high-volume shipments toward sea or rail.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566405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06 / QUALITY CONTROL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5308467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Route A is the clearest quality-control intervention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410494"/>
            <a:ext cx="530846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Route-level inspection results make the next investigation specific rather than broad.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72046" y="0"/>
            <a:ext cx="6019649" cy="6858000"/>
          </a:xfrm>
          <a:prstGeom prst="roundRect">
            <a:avLst>
              <a:gd name="adj" fmla="val 1013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6400640" y="2849364"/>
            <a:ext cx="175255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SIGNAL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640" y="3061692"/>
            <a:ext cx="175255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Route A stands 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640" y="3368080"/>
            <a:ext cx="1752556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Route A records the highest count of failed inspections.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05592" y="2742009"/>
            <a:ext cx="175255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INVESTIGATE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05592" y="2954338"/>
            <a:ext cx="175255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Trace the failure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05592" y="3260725"/>
            <a:ext cx="1752556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Investigate handling protocols, bottlenecks, and failure patterns on the route.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210545" y="177800"/>
            <a:ext cx="1752556" cy="6502400"/>
          </a:xfrm>
          <a:prstGeom prst="rect">
            <a:avLst/>
          </a:prstGeom>
          <a:solidFill>
            <a:srgbClr val="F2D1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439139" y="2525216"/>
            <a:ext cx="152396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INTERVENE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439139" y="2737545"/>
            <a:ext cx="129536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Join the decisions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39139" y="3263007"/>
            <a:ext cx="1295368" cy="1073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Pair route-level inspection results with carrier and transportation-mode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07 / DATA AND GEOGRAPHY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Two signals are easy to act on: data quality and geography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2420938"/>
            <a:ext cx="4815759" cy="4437063"/>
          </a:xfrm>
          <a:prstGeom prst="roundRect">
            <a:avLst>
              <a:gd name="adj" fmla="val 1374"/>
            </a:avLst>
          </a:prstGeom>
          <a:solidFill>
            <a:srgbClr val="F4F3E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95" y="3232448"/>
            <a:ext cx="1587460" cy="1587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195" y="5039023"/>
            <a:ext cx="461256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CUSTOMER DATA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03195" y="5284688"/>
            <a:ext cx="44093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29.97%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03195" y="5831780"/>
            <a:ext cx="461256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of revenue is attributed to unknown demographics.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68056" y="2420938"/>
            <a:ext cx="7223639" cy="4437063"/>
          </a:xfrm>
          <a:prstGeom prst="roundRect">
            <a:avLst>
              <a:gd name="adj" fmla="val 1374"/>
            </a:avLst>
          </a:prstGeom>
          <a:solidFill>
            <a:srgbClr val="F4F3EC"/>
          </a:solidFill>
          <a:ln/>
        </p:spPr>
      </p:sp>
      <p:sp>
        <p:nvSpPr>
          <p:cNvPr id="10" name="Shape 7"/>
          <p:cNvSpPr/>
          <p:nvPr/>
        </p:nvSpPr>
        <p:spPr>
          <a:xfrm>
            <a:off x="5171251" y="2624138"/>
            <a:ext cx="6817249" cy="1939429"/>
          </a:xfrm>
          <a:prstGeom prst="roundRect">
            <a:avLst>
              <a:gd name="adj" fmla="val 3143"/>
            </a:avLst>
          </a:prstGeom>
          <a:solidFill>
            <a:srgbClr val="F2D13A"/>
          </a:solidFill>
          <a:ln/>
        </p:spPr>
      </p:sp>
      <p:sp>
        <p:nvSpPr>
          <p:cNvPr id="11" name="Text 8"/>
          <p:cNvSpPr/>
          <p:nvPr/>
        </p:nvSpPr>
        <p:spPr>
          <a:xfrm>
            <a:off x="5374446" y="2830513"/>
            <a:ext cx="661405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MARKETS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374446" y="3042841"/>
            <a:ext cx="641085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Mumbai and Kolkata generate the highest overall revenue.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171251" y="4715966"/>
            <a:ext cx="6817249" cy="1938834"/>
          </a:xfrm>
          <a:prstGeom prst="roundRect">
            <a:avLst>
              <a:gd name="adj" fmla="val 3144"/>
            </a:avLst>
          </a:prstGeom>
          <a:solidFill>
            <a:srgbClr val="DDF2E8"/>
          </a:solidFill>
          <a:ln/>
        </p:spPr>
      </p:sp>
      <p:sp>
        <p:nvSpPr>
          <p:cNvPr id="14" name="Text 11"/>
          <p:cNvSpPr/>
          <p:nvPr/>
        </p:nvSpPr>
        <p:spPr>
          <a:xfrm>
            <a:off x="5374446" y="4919166"/>
            <a:ext cx="641085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0"/>
              </a:rPr>
              <a:t>Operating move: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 Improve demographic capture while allocating inventory and promotions toward the strongest hubs.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566405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08 / REPEATABLE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5308467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The workflow turns raw data into a repeatable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410494"/>
            <a:ext cx="530846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tools have distinct jobs: prepare the data, answer the questions, then make the findings usable.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72046" y="0"/>
            <a:ext cx="6019649" cy="6858000"/>
          </a:xfrm>
          <a:prstGeom prst="rect">
            <a:avLst/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6990" y="184150"/>
            <a:ext cx="495288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67373" y="349250"/>
            <a:ext cx="48893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67373" y="667345"/>
            <a:ext cx="488937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Load, inspect, describe, and prepare the dataset.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634" y="1339850"/>
            <a:ext cx="495288" cy="1428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017" y="1504950"/>
            <a:ext cx="46417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SQL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315017" y="1823045"/>
            <a:ext cx="4641734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Answer business questions through aggregation, filtering, grouping, and ranking.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277" y="2582466"/>
            <a:ext cx="495288" cy="1428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62661" y="2747566"/>
            <a:ext cx="439409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Power BI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562661" y="3065661"/>
            <a:ext cx="439409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Translate the findings into KPI cards, comparisons, and interactive dashboard views.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84175"/>
            <a:ext cx="443476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09 / 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613606"/>
            <a:ext cx="4053778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Four moves would improve the operating picture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1486694"/>
            <a:ext cx="405377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The analysis ends with actions tied directly to the strongest signals in the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96650" y="152400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6" name="Text 4"/>
          <p:cNvSpPr/>
          <p:nvPr/>
        </p:nvSpPr>
        <p:spPr>
          <a:xfrm>
            <a:off x="5264118" y="214313"/>
            <a:ext cx="76346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50664" y="188913"/>
            <a:ext cx="654103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Audit road transit providers and shift viable shipments to lower-risk modes.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96650" y="1822648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9" name="Text 7"/>
          <p:cNvSpPr/>
          <p:nvPr/>
        </p:nvSpPr>
        <p:spPr>
          <a:xfrm>
            <a:off x="5259454" y="1884561"/>
            <a:ext cx="77289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50664" y="1859161"/>
            <a:ext cx="654103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Investigate Route A failures and tighten handling controls.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96650" y="3492897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12" name="Text 10"/>
          <p:cNvSpPr/>
          <p:nvPr/>
        </p:nvSpPr>
        <p:spPr>
          <a:xfrm>
            <a:off x="5258760" y="3554809"/>
            <a:ext cx="77428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50664" y="3529409"/>
            <a:ext cx="654103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Capture missing customer demographics through loyalty or incentive mechanics.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68056" y="5010845"/>
            <a:ext cx="7223639" cy="1847155"/>
          </a:xfrm>
          <a:prstGeom prst="rect">
            <a:avLst/>
          </a:prstGeom>
          <a:solidFill>
            <a:srgbClr val="F2D13A"/>
          </a:solidFill>
          <a:ln/>
        </p:spPr>
      </p:sp>
      <p:sp>
        <p:nvSpPr>
          <p:cNvPr id="15" name="Shape 13"/>
          <p:cNvSpPr/>
          <p:nvPr/>
        </p:nvSpPr>
        <p:spPr>
          <a:xfrm>
            <a:off x="5196650" y="5163245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16" name="Text 14"/>
          <p:cNvSpPr/>
          <p:nvPr/>
        </p:nvSpPr>
        <p:spPr>
          <a:xfrm>
            <a:off x="5254692" y="5225157"/>
            <a:ext cx="78232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50664" y="5199757"/>
            <a:ext cx="631243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0"/>
              </a:rPr>
              <a:t>Expand inventory allocation and promotions in Mumbai and Kolkata while reviewing the Delhi strategy.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68056" y="1663898"/>
            <a:ext cx="7223639" cy="12700"/>
          </a:xfrm>
          <a:prstGeom prst="rect">
            <a:avLst/>
          </a:prstGeom>
          <a:solidFill>
            <a:srgbClr val="1F6B5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68056" y="3334147"/>
            <a:ext cx="7223639" cy="12700"/>
          </a:xfrm>
          <a:prstGeom prst="rect">
            <a:avLst/>
          </a:prstGeom>
          <a:solidFill>
            <a:srgbClr val="1F6B50"/>
          </a:solidFill>
          <a:ln/>
        </p:spPr>
      </p:sp>
      <p:sp>
        <p:nvSpPr>
          <p:cNvPr id="20" name="Shape 18"/>
          <p:cNvSpPr/>
          <p:nvPr/>
        </p:nvSpPr>
        <p:spPr>
          <a:xfrm>
            <a:off x="4968056" y="5004495"/>
            <a:ext cx="7223639" cy="12700"/>
          </a:xfrm>
          <a:prstGeom prst="rect">
            <a:avLst/>
          </a:prstGeom>
          <a:solidFill>
            <a:srgbClr val="1F6B5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2026-10-23T14:58:54Z</dcterms:created>
  <dcterms:modified xsi:type="dcterms:W3CDTF">2026-10-23T14:58:54Z</dcterms:modified>
</cp:coreProperties>
</file>